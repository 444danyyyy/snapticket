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8229600" cx="14630400"/>
  <p:notesSz cx="8229600" cy="146304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565525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660900" y="0"/>
            <a:ext cx="3567113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-273050" y="1828800"/>
            <a:ext cx="8775700" cy="493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3896975"/>
            <a:ext cx="3565525" cy="733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-273050" y="1828800"/>
            <a:ext cx="8775700" cy="493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-273050" y="1828800"/>
            <a:ext cx="8775700" cy="493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/>
          <p:nvPr>
            <p:ph idx="2" type="sldImg"/>
          </p:nvPr>
        </p:nvSpPr>
        <p:spPr>
          <a:xfrm>
            <a:off x="-273050" y="1828800"/>
            <a:ext cx="8775700" cy="493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3:notes"/>
          <p:cNvSpPr txBox="1"/>
          <p:nvPr>
            <p:ph idx="1" type="body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:notes"/>
          <p:cNvSpPr txBox="1"/>
          <p:nvPr>
            <p:ph idx="12" type="sldNum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/>
          <p:nvPr>
            <p:ph idx="2" type="sldImg"/>
          </p:nvPr>
        </p:nvSpPr>
        <p:spPr>
          <a:xfrm>
            <a:off x="-273050" y="1828800"/>
            <a:ext cx="8775700" cy="493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4:notes"/>
          <p:cNvSpPr txBox="1"/>
          <p:nvPr>
            <p:ph idx="1" type="body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:notes"/>
          <p:cNvSpPr txBox="1"/>
          <p:nvPr>
            <p:ph idx="12" type="sldNum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/>
          <p:nvPr>
            <p:ph idx="2" type="sldImg"/>
          </p:nvPr>
        </p:nvSpPr>
        <p:spPr>
          <a:xfrm>
            <a:off x="-273050" y="1828800"/>
            <a:ext cx="8775700" cy="493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 txBox="1"/>
          <p:nvPr>
            <p:ph idx="12" type="sldNum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/>
          <p:nvPr>
            <p:ph idx="2" type="sldImg"/>
          </p:nvPr>
        </p:nvSpPr>
        <p:spPr>
          <a:xfrm>
            <a:off x="-273050" y="1828800"/>
            <a:ext cx="8775700" cy="493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6:notes"/>
          <p:cNvSpPr txBox="1"/>
          <p:nvPr>
            <p:ph idx="1" type="body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:notes"/>
          <p:cNvSpPr txBox="1"/>
          <p:nvPr>
            <p:ph idx="12" type="sldNum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:notes"/>
          <p:cNvSpPr/>
          <p:nvPr>
            <p:ph idx="2" type="sldImg"/>
          </p:nvPr>
        </p:nvSpPr>
        <p:spPr>
          <a:xfrm>
            <a:off x="-273050" y="1828800"/>
            <a:ext cx="8775700" cy="493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7:notes"/>
          <p:cNvSpPr txBox="1"/>
          <p:nvPr>
            <p:ph idx="1" type="body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:notes"/>
          <p:cNvSpPr txBox="1"/>
          <p:nvPr>
            <p:ph idx="12" type="sldNum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:notes"/>
          <p:cNvSpPr/>
          <p:nvPr>
            <p:ph idx="2" type="sldImg"/>
          </p:nvPr>
        </p:nvSpPr>
        <p:spPr>
          <a:xfrm>
            <a:off x="-273050" y="1828800"/>
            <a:ext cx="8775700" cy="493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8:notes"/>
          <p:cNvSpPr txBox="1"/>
          <p:nvPr>
            <p:ph idx="1" type="body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:notes"/>
          <p:cNvSpPr txBox="1"/>
          <p:nvPr>
            <p:ph idx="12" type="sldNum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9:notes"/>
          <p:cNvSpPr/>
          <p:nvPr>
            <p:ph idx="2" type="sldImg"/>
          </p:nvPr>
        </p:nvSpPr>
        <p:spPr>
          <a:xfrm>
            <a:off x="-273050" y="1828800"/>
            <a:ext cx="8775700" cy="493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9:notes"/>
          <p:cNvSpPr txBox="1"/>
          <p:nvPr>
            <p:ph idx="1" type="body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9:notes"/>
          <p:cNvSpPr txBox="1"/>
          <p:nvPr>
            <p:ph idx="12" type="sldNum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:notes"/>
          <p:cNvSpPr/>
          <p:nvPr>
            <p:ph idx="2" type="sldImg"/>
          </p:nvPr>
        </p:nvSpPr>
        <p:spPr>
          <a:xfrm>
            <a:off x="-273050" y="1828800"/>
            <a:ext cx="8775700" cy="493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10:notes"/>
          <p:cNvSpPr txBox="1"/>
          <p:nvPr>
            <p:ph idx="1" type="body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0:notes"/>
          <p:cNvSpPr txBox="1"/>
          <p:nvPr>
            <p:ph idx="12" type="sldNum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1:notes"/>
          <p:cNvSpPr/>
          <p:nvPr>
            <p:ph idx="2" type="sldImg"/>
          </p:nvPr>
        </p:nvSpPr>
        <p:spPr>
          <a:xfrm>
            <a:off x="-273050" y="1828800"/>
            <a:ext cx="8775700" cy="493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11:notes"/>
          <p:cNvSpPr txBox="1"/>
          <p:nvPr>
            <p:ph idx="1" type="body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1:notes"/>
          <p:cNvSpPr txBox="1"/>
          <p:nvPr>
            <p:ph idx="12" type="sldNum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274320" y="274320"/>
            <a:ext cx="1097280" cy="1097280"/>
          </a:xfrm>
          <a:prstGeom prst="roundRect">
            <a:avLst>
              <a:gd fmla="val 16667" name="adj"/>
            </a:avLst>
          </a:prstGeom>
          <a:solidFill>
            <a:srgbClr val="1B6C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274320" y="274320"/>
            <a:ext cx="1097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🎫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645920" y="914400"/>
            <a:ext cx="10972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SnapTicket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645920" y="21031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2800"/>
              <a:buFont typeface="Calibri"/>
              <a:buNone/>
            </a:pPr>
            <a:r>
              <a:rPr b="0" i="1" lang="en-US" sz="280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Help Desk Management System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645920" y="530352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Daniele Atienza  •  Federico Bertolini  •  Kevin Gopce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645920" y="576072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1400"/>
              <a:buFont typeface="Calibri"/>
              <a:buNone/>
            </a:pPr>
            <a:r>
              <a:rPr lang="en-US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B INFO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0" y="0"/>
            <a:ext cx="14630400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457200" y="182880"/>
            <a:ext cx="1371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Cos'è SnapTicket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457200" y="1280160"/>
            <a:ext cx="6217920" cy="6217920"/>
          </a:xfrm>
          <a:prstGeom prst="roundRect">
            <a:avLst>
              <a:gd fmla="val 16667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731520" y="1463040"/>
            <a:ext cx="5669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Sistema di Gestione Ticket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822960" y="201168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Simula un Help Desk aziendale reale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822960" y="251460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Gestione centralizzata delle richieste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822960" y="301752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Tracciamento dello stato dei problemi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822960" y="352044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Assegnazione automatica della priorità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822960" y="402336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Separazione dei ruoli utente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7772400" y="1463040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Flusso Pratico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7772400" y="1920240"/>
            <a:ext cx="1097280" cy="1097280"/>
          </a:xfrm>
          <a:prstGeom prst="ellipse">
            <a:avLst/>
          </a:prstGeom>
          <a:solidFill>
            <a:srgbClr val="1B6C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7772400" y="1920240"/>
            <a:ext cx="1097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7589520" y="3200400"/>
            <a:ext cx="1463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Problema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Tecnico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8961120" y="2103120"/>
            <a:ext cx="274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9235440" y="1920240"/>
            <a:ext cx="1097280" cy="1097280"/>
          </a:xfrm>
          <a:prstGeom prst="ellipse">
            <a:avLst/>
          </a:prstGeom>
          <a:solidFill>
            <a:srgbClr val="1B6C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9235440" y="1920240"/>
            <a:ext cx="1097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📋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9052560" y="3200400"/>
            <a:ext cx="1463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Creazione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Ticket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0424160" y="2103120"/>
            <a:ext cx="274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0698480" y="1920240"/>
            <a:ext cx="1097280" cy="109728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10698480" y="1920240"/>
            <a:ext cx="1097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0515600" y="3200400"/>
            <a:ext cx="1463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Diagnosi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Tecnico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1887200" y="2103120"/>
            <a:ext cx="274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2161520" y="1920240"/>
            <a:ext cx="1097280" cy="109728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12161520" y="1920240"/>
            <a:ext cx="1097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11978640" y="3200400"/>
            <a:ext cx="1463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Chiusura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Ticket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7772400" y="4754880"/>
            <a:ext cx="6217920" cy="182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8046720" y="484632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Problema Risolto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8046720" y="5303520"/>
            <a:ext cx="5669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Gestione manuale inefficiente → Sistema digitale ordinato e tracciabile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"/>
          <p:cNvSpPr/>
          <p:nvPr/>
        </p:nvSpPr>
        <p:spPr>
          <a:xfrm>
            <a:off x="0" y="0"/>
            <a:ext cx="14630400" cy="9144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457200" y="182880"/>
            <a:ext cx="1371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Obiettivi del Progetto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457200" y="1463040"/>
            <a:ext cx="4389120" cy="1828800"/>
          </a:xfrm>
          <a:prstGeom prst="roundRect">
            <a:avLst>
              <a:gd fmla="val 16667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1B6C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💾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1371600" y="16916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Digitalizzare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731520" y="2148840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Segnalazioni da formato cartaceo a digitale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5029200" y="1463040"/>
            <a:ext cx="4389120" cy="1828800"/>
          </a:xfrm>
          <a:prstGeom prst="roundRect">
            <a:avLst>
              <a:gd fmla="val 16667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5303520" y="1645920"/>
            <a:ext cx="548640" cy="548640"/>
          </a:xfrm>
          <a:prstGeom prst="ellipse">
            <a:avLst/>
          </a:prstGeom>
          <a:solidFill>
            <a:srgbClr val="1B6C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5303520" y="16459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5943600" y="16916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Organizzare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5303520" y="2148840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Centrare e ordinare tutte le richieste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9601200" y="1463040"/>
            <a:ext cx="4389120" cy="1828800"/>
          </a:xfrm>
          <a:prstGeom prst="roundRect">
            <a:avLst>
              <a:gd fmla="val 16667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9875520" y="1645920"/>
            <a:ext cx="548640" cy="548640"/>
          </a:xfrm>
          <a:prstGeom prst="ellipse">
            <a:avLst/>
          </a:prstGeom>
          <a:solidFill>
            <a:srgbClr val="1B6C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9875520" y="16459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👥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0515600" y="16916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Ruoli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9875520" y="2148840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Separare dipendenti da tecnici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457200" y="3383280"/>
            <a:ext cx="4389120" cy="1828800"/>
          </a:xfrm>
          <a:prstGeom prst="roundRect">
            <a:avLst>
              <a:gd fmla="val 16667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731520" y="3566160"/>
            <a:ext cx="548640" cy="548640"/>
          </a:xfrm>
          <a:prstGeom prst="ellipse">
            <a:avLst/>
          </a:prstGeom>
          <a:solidFill>
            <a:srgbClr val="1B6C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731520" y="35661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1371600" y="361188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Priorità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731520" y="4069080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Assegnare urgenza automaticamente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5029200" y="3383280"/>
            <a:ext cx="4389120" cy="1828800"/>
          </a:xfrm>
          <a:prstGeom prst="roundRect">
            <a:avLst>
              <a:gd fmla="val 16667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5303520" y="3566160"/>
            <a:ext cx="548640" cy="548640"/>
          </a:xfrm>
          <a:prstGeom prst="ellipse">
            <a:avLst/>
          </a:prstGeom>
          <a:solidFill>
            <a:srgbClr val="1B6C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5303520" y="35661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5943600" y="361188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Tracciamento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5303520" y="4069080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Monitorare stato dal ticket al closing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9601200" y="3383280"/>
            <a:ext cx="4389120" cy="1828800"/>
          </a:xfrm>
          <a:prstGeom prst="roundRect">
            <a:avLst>
              <a:gd fmla="val 16667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9875520" y="3566160"/>
            <a:ext cx="548640" cy="548640"/>
          </a:xfrm>
          <a:prstGeom prst="ellipse">
            <a:avLst/>
          </a:prstGeom>
          <a:solidFill>
            <a:srgbClr val="1B6C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9875520" y="35661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🏢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10515600" y="361188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Realismo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9875520" y="4069080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Simulare sistema IT aziendale reale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"/>
          <p:cNvSpPr/>
          <p:nvPr/>
        </p:nvSpPr>
        <p:spPr>
          <a:xfrm>
            <a:off x="0" y="0"/>
            <a:ext cx="14630400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457200" y="182880"/>
            <a:ext cx="1371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Ruoli Utente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457200" y="1463040"/>
            <a:ext cx="6675120" cy="5669280"/>
          </a:xfrm>
          <a:prstGeom prst="roundRect">
            <a:avLst>
              <a:gd fmla="val 16667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914400" y="1737360"/>
            <a:ext cx="1097280" cy="1097280"/>
          </a:xfrm>
          <a:prstGeom prst="ellipse">
            <a:avLst/>
          </a:prstGeom>
          <a:solidFill>
            <a:srgbClr val="1B6C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914400" y="1737360"/>
            <a:ext cx="1097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👨‍💼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640080" y="2926080"/>
            <a:ext cx="6217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DIPENDENTE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731520" y="3474720"/>
            <a:ext cx="5577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Login con credenziali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731520" y="3913632"/>
            <a:ext cx="5577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Creare nuovi ticket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731520" y="4352544"/>
            <a:ext cx="5577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Descrivere il problema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731520" y="4791456"/>
            <a:ext cx="5577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Assegnare priorità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731520" y="5230368"/>
            <a:ext cx="5577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Tracciare stato ticket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731520" y="5669280"/>
            <a:ext cx="5577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Logout sicuro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7498080" y="1463040"/>
            <a:ext cx="6675120" cy="5669280"/>
          </a:xfrm>
          <a:prstGeom prst="roundRect">
            <a:avLst>
              <a:gd fmla="val 16667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7955280" y="1737360"/>
            <a:ext cx="1097280" cy="109728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7955280" y="1737360"/>
            <a:ext cx="1097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🧑‍💻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7680960" y="2926080"/>
            <a:ext cx="6217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TECNICO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7772400" y="3474720"/>
            <a:ext cx="5577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Login con credenziali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7772400" y="3913632"/>
            <a:ext cx="5577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Visualizzare ticket aperti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7772400" y="4352544"/>
            <a:ext cx="5577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Ordinamento per priorità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7772400" y="4791456"/>
            <a:ext cx="5577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Diagnosticare problemi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7772400" y="5230368"/>
            <a:ext cx="5577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Chiudere ticket risolti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7772400" y="5669280"/>
            <a:ext cx="5577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Logout sicuro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/>
          <p:nvPr/>
        </p:nvSpPr>
        <p:spPr>
          <a:xfrm>
            <a:off x="0" y="0"/>
            <a:ext cx="14630400" cy="9144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457200" y="182880"/>
            <a:ext cx="1371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Struttura del Ticket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914400" y="1463040"/>
            <a:ext cx="5943600" cy="5669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rgbClr val="1B6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914400" y="1463040"/>
            <a:ext cx="5943600" cy="54864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1097280" y="15087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TICKET #1024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1188720" y="219456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Dipendente: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3108960" y="219456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Mario Rossi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1188720" y="26060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Dipartimento: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3108960" y="260604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Amministrazione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1188720" y="30175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Descrizione: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3108960" y="301752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Webcam non funzionante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1188720" y="34290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Priorità: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3108960" y="342900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Alta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1188720" y="384048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Stato: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3108960" y="384048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Aperto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" name="Google Shape;139;p7"/>
          <p:cNvCxnSpPr/>
          <p:nvPr/>
        </p:nvCxnSpPr>
        <p:spPr>
          <a:xfrm>
            <a:off x="1188720" y="4206240"/>
            <a:ext cx="5486400" cy="0"/>
          </a:xfrm>
          <a:prstGeom prst="straightConnector1">
            <a:avLst/>
          </a:prstGeom>
          <a:noFill/>
          <a:ln cap="flat" cmpd="sng" w="12700">
            <a:solidFill>
              <a:srgbClr val="ECF0F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7"/>
          <p:cNvSpPr/>
          <p:nvPr/>
        </p:nvSpPr>
        <p:spPr>
          <a:xfrm>
            <a:off x="1188720" y="44348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1B6CA8"/>
                </a:solidFill>
                <a:latin typeface="Consolas"/>
                <a:ea typeface="Consolas"/>
                <a:cs typeface="Consolas"/>
                <a:sym typeface="Consolas"/>
              </a:rPr>
              <a:t>Attributi Classe Java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1280160" y="489204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C3E50"/>
                </a:solidFill>
                <a:latin typeface="Consolas"/>
                <a:ea typeface="Consolas"/>
                <a:cs typeface="Consolas"/>
                <a:sym typeface="Consolas"/>
              </a:rPr>
              <a:t>public int 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280160" y="521208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C3E50"/>
                </a:solidFill>
                <a:latin typeface="Consolas"/>
                <a:ea typeface="Consolas"/>
                <a:cs typeface="Consolas"/>
                <a:sym typeface="Consolas"/>
              </a:rPr>
              <a:t>public String dipendente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280160" y="553212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C3E50"/>
                </a:solidFill>
                <a:latin typeface="Consolas"/>
                <a:ea typeface="Consolas"/>
                <a:cs typeface="Consolas"/>
                <a:sym typeface="Consolas"/>
              </a:rPr>
              <a:t>public String dipartimento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1280160" y="585216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C3E50"/>
                </a:solidFill>
                <a:latin typeface="Consolas"/>
                <a:ea typeface="Consolas"/>
                <a:cs typeface="Consolas"/>
                <a:sym typeface="Consolas"/>
              </a:rPr>
              <a:t>public String descrizione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1280160" y="617220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C3E50"/>
                </a:solidFill>
                <a:latin typeface="Consolas"/>
                <a:ea typeface="Consolas"/>
                <a:cs typeface="Consolas"/>
                <a:sym typeface="Consolas"/>
              </a:rPr>
              <a:t>public String priorita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1280160" y="649224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C3E50"/>
                </a:solidFill>
                <a:latin typeface="Consolas"/>
                <a:ea typeface="Consolas"/>
                <a:cs typeface="Consolas"/>
                <a:sym typeface="Consolas"/>
              </a:rPr>
              <a:t>public boolean completato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7315200" y="146304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Componenti Fondamentali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7315200" y="2103120"/>
            <a:ext cx="365760" cy="365760"/>
          </a:xfrm>
          <a:prstGeom prst="ellipse">
            <a:avLst/>
          </a:prstGeom>
          <a:solidFill>
            <a:srgbClr val="1B6C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7315200" y="21031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7772400" y="2103120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ID Univoco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7772400" y="2359152"/>
            <a:ext cx="5943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Generato automaticamente con contatore incrementale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7315200" y="3017520"/>
            <a:ext cx="365760" cy="365760"/>
          </a:xfrm>
          <a:prstGeom prst="ellipse">
            <a:avLst/>
          </a:prstGeom>
          <a:solidFill>
            <a:srgbClr val="1B6C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7315200" y="30175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7772400" y="3017520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Informazioni Utente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7772400" y="3273552"/>
            <a:ext cx="5943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Nome dipendente e dipartimento di appartenenza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7315200" y="3931920"/>
            <a:ext cx="365760" cy="365760"/>
          </a:xfrm>
          <a:prstGeom prst="ellipse">
            <a:avLst/>
          </a:prstGeom>
          <a:solidFill>
            <a:srgbClr val="1B6C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7315200" y="39319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7772400" y="3931920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Descrizione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7772400" y="4187952"/>
            <a:ext cx="5943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Dettagli completi del problema segnalato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7315200" y="4846320"/>
            <a:ext cx="365760" cy="365760"/>
          </a:xfrm>
          <a:prstGeom prst="ellipse">
            <a:avLst/>
          </a:prstGeom>
          <a:solidFill>
            <a:srgbClr val="1B6C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7315200" y="48463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7772400" y="4846320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Priorità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7772400" y="5102352"/>
            <a:ext cx="5943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Alta, Media o Bassa (ordina automaticamente)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7315200" y="5760720"/>
            <a:ext cx="365760" cy="365760"/>
          </a:xfrm>
          <a:prstGeom prst="ellipse">
            <a:avLst/>
          </a:prstGeom>
          <a:solidFill>
            <a:srgbClr val="1B6C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7315200" y="57607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7772400" y="5760720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Stato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7772400" y="6016752"/>
            <a:ext cx="5943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Aperto o Completato (completato = true/false)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"/>
          <p:cNvSpPr/>
          <p:nvPr/>
        </p:nvSpPr>
        <p:spPr>
          <a:xfrm>
            <a:off x="0" y="0"/>
            <a:ext cx="14630400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457200" y="182880"/>
            <a:ext cx="1371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Creazione Ticket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457200" y="1463040"/>
            <a:ext cx="6858000" cy="566928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822905" y="2788915"/>
            <a:ext cx="6492300" cy="52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Ticket t = new Ticket(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contatore++,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utenteLoggato.nome,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utenteLoggato.dipartimento,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desc,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prio.getSelectedItem()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.toString()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tickets.add(t);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822900" y="2304278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2ECC71"/>
                </a:solidFill>
                <a:latin typeface="Consolas"/>
                <a:ea typeface="Consolas"/>
                <a:cs typeface="Consolas"/>
                <a:sym typeface="Consolas"/>
              </a:rPr>
              <a:t>new Ticket(...)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7589520" y="146304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Come Funziona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7589520" y="2057400"/>
            <a:ext cx="6583680" cy="594360"/>
          </a:xfrm>
          <a:prstGeom prst="roundRect">
            <a:avLst>
              <a:gd fmla="val 16667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7726680" y="2103120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1️⃣ Creazione Dinamica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7726680" y="2350008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Istanza nuova Ticket con tutti i dati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7589520" y="2743200"/>
            <a:ext cx="6583680" cy="594360"/>
          </a:xfrm>
          <a:prstGeom prst="roundRect">
            <a:avLst>
              <a:gd fmla="val 16667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7726680" y="2788920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2️⃣ ID Univoco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7726680" y="3035808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contatore++ auto-incrementa l'ID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7589520" y="3429000"/>
            <a:ext cx="6583680" cy="594360"/>
          </a:xfrm>
          <a:prstGeom prst="roundRect">
            <a:avLst>
              <a:gd fmla="val 16667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7726680" y="3474720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3️⃣ Utente Loggato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7726680" y="3721608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Recupera nome e dipartimento dal login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7589520" y="4114800"/>
            <a:ext cx="6583680" cy="594360"/>
          </a:xfrm>
          <a:prstGeom prst="roundRect">
            <a:avLst>
              <a:gd fmla="val 16667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7726680" y="4160520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4️⃣ Descrizione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7726680" y="4407408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Testo inserito dal dipendente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7589520" y="4800600"/>
            <a:ext cx="6583680" cy="594360"/>
          </a:xfrm>
          <a:prstGeom prst="roundRect">
            <a:avLst>
              <a:gd fmla="val 16667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7726680" y="4846320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5️⃣ Priorità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7726680" y="5093208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Selezionata da combo box: Alta/Media/Bassa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7589520" y="5486400"/>
            <a:ext cx="6583680" cy="594360"/>
          </a:xfrm>
          <a:prstGeom prst="roundRect">
            <a:avLst>
              <a:gd fmla="val 16667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7726680" y="5532120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6️⃣ Memorizzazione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7726680" y="5779008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Aggiunge ticket in ArrayList&lt;Ticket&gt;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"/>
          <p:cNvSpPr/>
          <p:nvPr/>
        </p:nvSpPr>
        <p:spPr>
          <a:xfrm>
            <a:off x="0" y="0"/>
            <a:ext cx="14630400" cy="9144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457200" y="182880"/>
            <a:ext cx="1371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Login e Ordinamento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457200" y="146304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LOGIN UTENTE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457200" y="1828800"/>
            <a:ext cx="6858000" cy="219456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640080" y="1965960"/>
            <a:ext cx="649224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(u.nome.equals(user.getText())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&amp;&amp; u.password.equals(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new String(pass.getPassword())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)) 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// Login autorizzato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cardLayout.show(mainPanel, ruolo);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457200" y="425196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ORDINAMENTO PER PRIORITÀ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457200" y="4617720"/>
            <a:ext cx="6858000" cy="251460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640080" y="4754880"/>
            <a:ext cx="649224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String[] ordine = {"Alta", "Media", "Bassa"};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for (String pr : ordine) 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for (Ticket t : tickets) 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(!t.completato &amp;&amp; t.priorita.equals(pr)) 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model.addElement(t);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7589520" y="146304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Spiegazione Codice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7589520" y="2011680"/>
            <a:ext cx="6583680" cy="1828800"/>
          </a:xfrm>
          <a:prstGeom prst="roundRect">
            <a:avLst>
              <a:gd fmla="val 16667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7726680" y="210312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Verifica Credenziali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7726680" y="2423160"/>
            <a:ext cx="6400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Confronta nome e password con ArrayList&lt;Utente&gt;. Se match, visualizza pannello corrispondente al ruolo (Dipendente/Tecnico) con CardLayout.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7589520" y="3977640"/>
            <a:ext cx="6583680" cy="1828800"/>
          </a:xfrm>
          <a:prstGeom prst="roundRect">
            <a:avLst>
              <a:gd fmla="val 16667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7726680" y="406908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Ordina per Urgenza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7726680" y="4389120"/>
            <a:ext cx="6400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Triplo loop: per ogni priorità (Alta→Media→Bassa) scorre i ticket e aggiunge solo quelli non completati. Risultato: lista ordinata per urgenza automaticamente.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"/>
          <p:cNvSpPr/>
          <p:nvPr/>
        </p:nvSpPr>
        <p:spPr>
          <a:xfrm>
            <a:off x="0" y="0"/>
            <a:ext cx="14630400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457200" y="182880"/>
            <a:ext cx="1371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Architettura del Sistema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914400" y="1828800"/>
            <a:ext cx="2743200" cy="1097280"/>
          </a:xfrm>
          <a:prstGeom prst="roundRect">
            <a:avLst>
              <a:gd fmla="val 16667" name="adj"/>
            </a:avLst>
          </a:prstGeom>
          <a:solidFill>
            <a:srgbClr val="1B6C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914400" y="192024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914400" y="233172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Entry point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4114800" y="1828800"/>
            <a:ext cx="2743200" cy="1097280"/>
          </a:xfrm>
          <a:prstGeom prst="roundRect">
            <a:avLst>
              <a:gd fmla="val 16667" name="adj"/>
            </a:avLst>
          </a:prstGeom>
          <a:solidFill>
            <a:srgbClr val="1B6C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4114800" y="192024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SnapTicketGUI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4114800" y="233172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Interfaccia grafica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7315200" y="1828800"/>
            <a:ext cx="2743200" cy="1097280"/>
          </a:xfrm>
          <a:prstGeom prst="roundRect">
            <a:avLst>
              <a:gd fmla="val 16667" name="adj"/>
            </a:avLst>
          </a:prstGeom>
          <a:solidFill>
            <a:srgbClr val="1B6C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7315200" y="192024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Ticket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7315200" y="233172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Modello dati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10515600" y="1828800"/>
            <a:ext cx="2743200" cy="1097280"/>
          </a:xfrm>
          <a:prstGeom prst="roundRect">
            <a:avLst>
              <a:gd fmla="val 16667" name="adj"/>
            </a:avLst>
          </a:prstGeom>
          <a:solidFill>
            <a:srgbClr val="1B6C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10515600" y="192024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Utente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10515600" y="233172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Credenziali utente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457200" y="3200400"/>
            <a:ext cx="1371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Flusso di Esecuzione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731520" y="3749040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"/>
          <p:cNvSpPr/>
          <p:nvPr/>
        </p:nvSpPr>
        <p:spPr>
          <a:xfrm>
            <a:off x="731520" y="3749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640080" y="429768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Avvio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1280160" y="384048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1737360" y="3749040"/>
            <a:ext cx="457200" cy="457200"/>
          </a:xfrm>
          <a:prstGeom prst="ellipse">
            <a:avLst/>
          </a:prstGeom>
          <a:solidFill>
            <a:srgbClr val="1B6C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"/>
          <p:cNvSpPr/>
          <p:nvPr/>
        </p:nvSpPr>
        <p:spPr>
          <a:xfrm>
            <a:off x="1737360" y="3749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1645920" y="429768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Login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2286000" y="384048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2743200" y="3749040"/>
            <a:ext cx="457200" cy="457200"/>
          </a:xfrm>
          <a:prstGeom prst="ellipse">
            <a:avLst/>
          </a:prstGeom>
          <a:solidFill>
            <a:srgbClr val="F1C4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0"/>
          <p:cNvSpPr/>
          <p:nvPr/>
        </p:nvSpPr>
        <p:spPr>
          <a:xfrm>
            <a:off x="2743200" y="3749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2651760" y="429768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Selezione Ruolo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3291840" y="384048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3749040" y="3749040"/>
            <a:ext cx="457200" cy="457200"/>
          </a:xfrm>
          <a:prstGeom prst="ellipse">
            <a:avLst/>
          </a:prstGeom>
          <a:solidFill>
            <a:srgbClr val="F1C4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0"/>
          <p:cNvSpPr/>
          <p:nvPr/>
        </p:nvSpPr>
        <p:spPr>
          <a:xfrm>
            <a:off x="3749040" y="3749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3657600" y="429768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Gestione Ticket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4297680" y="384048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6CA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6CA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4754880" y="3749040"/>
            <a:ext cx="457200" cy="45720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0"/>
          <p:cNvSpPr/>
          <p:nvPr/>
        </p:nvSpPr>
        <p:spPr>
          <a:xfrm>
            <a:off x="4754880" y="3749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4663440" y="429768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Logout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457200" y="4937760"/>
            <a:ext cx="1371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Componenti Chiave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457200" y="5486400"/>
            <a:ext cx="4389120" cy="640080"/>
          </a:xfrm>
          <a:prstGeom prst="roundRect">
            <a:avLst>
              <a:gd fmla="val 16667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"/>
          <p:cNvSpPr/>
          <p:nvPr/>
        </p:nvSpPr>
        <p:spPr>
          <a:xfrm>
            <a:off x="640080" y="55778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1188720" y="5559552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ArrayList&lt;Ticket&gt;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1188720" y="580644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Memoria ticket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5029200" y="5486400"/>
            <a:ext cx="4389120" cy="640080"/>
          </a:xfrm>
          <a:prstGeom prst="roundRect">
            <a:avLst>
              <a:gd fmla="val 16667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0"/>
          <p:cNvSpPr/>
          <p:nvPr/>
        </p:nvSpPr>
        <p:spPr>
          <a:xfrm>
            <a:off x="5212080" y="55778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👥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5760720" y="5559552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ArrayList&lt;Utente&gt;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5760720" y="580644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Database utenti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9601200" y="5486400"/>
            <a:ext cx="4389120" cy="640080"/>
          </a:xfrm>
          <a:prstGeom prst="roundRect">
            <a:avLst>
              <a:gd fmla="val 16667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9784080" y="55778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🎛️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10332720" y="5559552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CardLayout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10332720" y="580644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Gestione schermate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457200" y="6400800"/>
            <a:ext cx="4389120" cy="640080"/>
          </a:xfrm>
          <a:prstGeom prst="roundRect">
            <a:avLst>
              <a:gd fmla="val 16667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0"/>
          <p:cNvSpPr/>
          <p:nvPr/>
        </p:nvSpPr>
        <p:spPr>
          <a:xfrm>
            <a:off x="640080" y="64922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1188720" y="6473952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ActionListener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1188720" y="672084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Gestione eventi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5029200" y="6400800"/>
            <a:ext cx="4389120" cy="640080"/>
          </a:xfrm>
          <a:prstGeom prst="roundRect">
            <a:avLst>
              <a:gd fmla="val 16667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0"/>
          <p:cNvSpPr/>
          <p:nvPr/>
        </p:nvSpPr>
        <p:spPr>
          <a:xfrm>
            <a:off x="5212080" y="64922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⚙️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5760720" y="6473952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JOptionPane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5760720" y="672084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Dialoghi info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9601200" y="6400800"/>
            <a:ext cx="4389120" cy="640080"/>
          </a:xfrm>
          <a:prstGeom prst="roundRect">
            <a:avLst>
              <a:gd fmla="val 16667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"/>
          <p:cNvSpPr/>
          <p:nvPr/>
        </p:nvSpPr>
        <p:spPr>
          <a:xfrm>
            <a:off x="9784080" y="64922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🗂️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10332720" y="6473952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JList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10332720" y="672084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Visualizzazione ticket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1"/>
          <p:cNvSpPr/>
          <p:nvPr/>
        </p:nvSpPr>
        <p:spPr>
          <a:xfrm>
            <a:off x="0" y="0"/>
            <a:ext cx="14630400" cy="9144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457200" y="182880"/>
            <a:ext cx="13716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Tecnologie Utilizzate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4593880" y="1965863"/>
            <a:ext cx="4389000" cy="2011800"/>
          </a:xfrm>
          <a:prstGeom prst="roundRect">
            <a:avLst>
              <a:gd fmla="val 16667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4868200" y="2194463"/>
            <a:ext cx="731400" cy="731400"/>
          </a:xfrm>
          <a:prstGeom prst="ellipse">
            <a:avLst/>
          </a:prstGeom>
          <a:solidFill>
            <a:srgbClr val="F1C4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4868200" y="2194463"/>
            <a:ext cx="731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📦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5691160" y="2240183"/>
            <a:ext cx="301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ArrayList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4959640" y="2788823"/>
            <a:ext cx="3749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Collezioni dinamiche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2355388" y="4206175"/>
            <a:ext cx="4389000" cy="2011800"/>
          </a:xfrm>
          <a:prstGeom prst="roundRect">
            <a:avLst>
              <a:gd fmla="val 16667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2629708" y="4434775"/>
            <a:ext cx="731400" cy="731400"/>
          </a:xfrm>
          <a:prstGeom prst="ellipse">
            <a:avLst/>
          </a:prstGeom>
          <a:solidFill>
            <a:srgbClr val="1B6C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2629708" y="4434775"/>
            <a:ext cx="731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🎭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3452668" y="4480495"/>
            <a:ext cx="301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CardLayout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2721148" y="5029135"/>
            <a:ext cx="3749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Gestione pannelli multipli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6927388" y="4206175"/>
            <a:ext cx="4389000" cy="2011800"/>
          </a:xfrm>
          <a:prstGeom prst="roundRect">
            <a:avLst>
              <a:gd fmla="val 16667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7201708" y="4434775"/>
            <a:ext cx="731400" cy="73140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7201708" y="4434775"/>
            <a:ext cx="731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🎪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8024668" y="4480495"/>
            <a:ext cx="301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ActionListener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7293148" y="5029135"/>
            <a:ext cx="3749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Gestione eventi GUI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2"/>
          <p:cNvSpPr/>
          <p:nvPr/>
        </p:nvSpPr>
        <p:spPr>
          <a:xfrm>
            <a:off x="457200" y="182880"/>
            <a:ext cx="1371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Punti di Forza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2028019" y="1007507"/>
            <a:ext cx="4389000" cy="2103000"/>
          </a:xfrm>
          <a:prstGeom prst="roundRect">
            <a:avLst>
              <a:gd fmla="val 16667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2"/>
          <p:cNvSpPr/>
          <p:nvPr/>
        </p:nvSpPr>
        <p:spPr>
          <a:xfrm>
            <a:off x="2302339" y="1190387"/>
            <a:ext cx="502800" cy="502800"/>
          </a:xfrm>
          <a:prstGeom prst="ellipse">
            <a:avLst/>
          </a:prstGeom>
          <a:solidFill>
            <a:srgbClr val="1B6C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2"/>
          <p:cNvSpPr/>
          <p:nvPr/>
        </p:nvSpPr>
        <p:spPr>
          <a:xfrm>
            <a:off x="2302339" y="1190387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2942419" y="1236107"/>
            <a:ext cx="320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Sistema Realistico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2348059" y="1601867"/>
            <a:ext cx="3749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Simula Help Desk aziendale reale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2348059" y="2013347"/>
            <a:ext cx="3749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Flusso completo: problema → ticket → soluzione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7626586" y="1007512"/>
            <a:ext cx="4389000" cy="2103000"/>
          </a:xfrm>
          <a:prstGeom prst="roundRect">
            <a:avLst>
              <a:gd fmla="val 16667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2"/>
          <p:cNvSpPr/>
          <p:nvPr/>
        </p:nvSpPr>
        <p:spPr>
          <a:xfrm>
            <a:off x="7900906" y="1190392"/>
            <a:ext cx="502800" cy="502800"/>
          </a:xfrm>
          <a:prstGeom prst="ellipse">
            <a:avLst/>
          </a:prstGeom>
          <a:solidFill>
            <a:srgbClr val="1B6C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2"/>
          <p:cNvSpPr/>
          <p:nvPr/>
        </p:nvSpPr>
        <p:spPr>
          <a:xfrm>
            <a:off x="7900906" y="1190392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👥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8540986" y="1236112"/>
            <a:ext cx="320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Gestione Ruoli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7946626" y="1601872"/>
            <a:ext cx="3749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Separazione dipendente vs tecnico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7946626" y="2013352"/>
            <a:ext cx="3749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Autorizzazioni specifiche per ruolo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2027963" y="4343390"/>
            <a:ext cx="4389000" cy="2103000"/>
          </a:xfrm>
          <a:prstGeom prst="roundRect">
            <a:avLst>
              <a:gd fmla="val 16667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2"/>
          <p:cNvSpPr/>
          <p:nvPr/>
        </p:nvSpPr>
        <p:spPr>
          <a:xfrm>
            <a:off x="2302283" y="4526270"/>
            <a:ext cx="502800" cy="502800"/>
          </a:xfrm>
          <a:prstGeom prst="ellipse">
            <a:avLst/>
          </a:prstGeom>
          <a:solidFill>
            <a:srgbClr val="1B6C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2"/>
          <p:cNvSpPr/>
          <p:nvPr/>
        </p:nvSpPr>
        <p:spPr>
          <a:xfrm>
            <a:off x="2302283" y="4526270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2942363" y="4571990"/>
            <a:ext cx="320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Ordinamento Automatico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2348003" y="4937750"/>
            <a:ext cx="3749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Ticket ordinati per priorità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2348003" y="5349230"/>
            <a:ext cx="3749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Alta → Media → Bassa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2"/>
          <p:cNvSpPr/>
          <p:nvPr/>
        </p:nvSpPr>
        <p:spPr>
          <a:xfrm>
            <a:off x="7626613" y="4343340"/>
            <a:ext cx="4389000" cy="2103000"/>
          </a:xfrm>
          <a:prstGeom prst="roundRect">
            <a:avLst>
              <a:gd fmla="val 16667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2"/>
          <p:cNvSpPr/>
          <p:nvPr/>
        </p:nvSpPr>
        <p:spPr>
          <a:xfrm>
            <a:off x="7900933" y="4526220"/>
            <a:ext cx="502800" cy="502800"/>
          </a:xfrm>
          <a:prstGeom prst="ellipse">
            <a:avLst/>
          </a:prstGeom>
          <a:solidFill>
            <a:srgbClr val="1B6C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2"/>
          <p:cNvSpPr/>
          <p:nvPr/>
        </p:nvSpPr>
        <p:spPr>
          <a:xfrm>
            <a:off x="7900933" y="4526220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8541013" y="4571940"/>
            <a:ext cx="320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Tracciamento Completo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7946653" y="4937700"/>
            <a:ext cx="3749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ID univoco per ogni ticket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7946653" y="5349180"/>
            <a:ext cx="3749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Storico stato problema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3"/>
          <p:cNvSpPr/>
          <p:nvPr/>
        </p:nvSpPr>
        <p:spPr>
          <a:xfrm>
            <a:off x="0" y="0"/>
            <a:ext cx="14630400" cy="9144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3"/>
          <p:cNvSpPr/>
          <p:nvPr/>
        </p:nvSpPr>
        <p:spPr>
          <a:xfrm>
            <a:off x="457200" y="182880"/>
            <a:ext cx="1371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Evoluzioni Future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457200" y="1645920"/>
            <a:ext cx="4389120" cy="5303520"/>
          </a:xfrm>
          <a:prstGeom prst="roundRect">
            <a:avLst>
              <a:gd fmla="val 16667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3"/>
          <p:cNvSpPr/>
          <p:nvPr/>
        </p:nvSpPr>
        <p:spPr>
          <a:xfrm>
            <a:off x="457200" y="1645920"/>
            <a:ext cx="4389120" cy="54864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3"/>
          <p:cNvSpPr/>
          <p:nvPr/>
        </p:nvSpPr>
        <p:spPr>
          <a:xfrm>
            <a:off x="457200" y="1691640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Fase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731520" y="233172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Persistenza Dati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731520" y="2926080"/>
            <a:ext cx="137160" cy="137160"/>
          </a:xfrm>
          <a:prstGeom prst="ellipse">
            <a:avLst/>
          </a:prstGeom>
          <a:solidFill>
            <a:srgbClr val="1B6C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3"/>
          <p:cNvSpPr/>
          <p:nvPr/>
        </p:nvSpPr>
        <p:spPr>
          <a:xfrm>
            <a:off x="1005840" y="28803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MySQL Database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731520" y="3474720"/>
            <a:ext cx="137160" cy="137160"/>
          </a:xfrm>
          <a:prstGeom prst="ellipse">
            <a:avLst/>
          </a:prstGeom>
          <a:solidFill>
            <a:srgbClr val="1B6C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3"/>
          <p:cNvSpPr/>
          <p:nvPr/>
        </p:nvSpPr>
        <p:spPr>
          <a:xfrm>
            <a:off x="1005840" y="34290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JDBC Connection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731520" y="4023360"/>
            <a:ext cx="137160" cy="137160"/>
          </a:xfrm>
          <a:prstGeom prst="ellipse">
            <a:avLst/>
          </a:prstGeom>
          <a:solidFill>
            <a:srgbClr val="1B6C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3"/>
          <p:cNvSpPr/>
          <p:nvPr/>
        </p:nvSpPr>
        <p:spPr>
          <a:xfrm>
            <a:off x="1005840" y="39776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Backup automatico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5029200" y="1645920"/>
            <a:ext cx="4389120" cy="5303520"/>
          </a:xfrm>
          <a:prstGeom prst="roundRect">
            <a:avLst>
              <a:gd fmla="val 16667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3"/>
          <p:cNvSpPr/>
          <p:nvPr/>
        </p:nvSpPr>
        <p:spPr>
          <a:xfrm>
            <a:off x="5029200" y="1645920"/>
            <a:ext cx="4389120" cy="54864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3"/>
          <p:cNvSpPr/>
          <p:nvPr/>
        </p:nvSpPr>
        <p:spPr>
          <a:xfrm>
            <a:off x="5029200" y="1691640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Fase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5303520" y="233172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Sicurezza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5303520" y="2926080"/>
            <a:ext cx="137160" cy="137160"/>
          </a:xfrm>
          <a:prstGeom prst="ellipse">
            <a:avLst/>
          </a:prstGeom>
          <a:solidFill>
            <a:srgbClr val="F1C4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3"/>
          <p:cNvSpPr/>
          <p:nvPr/>
        </p:nvSpPr>
        <p:spPr>
          <a:xfrm>
            <a:off x="5577840" y="28803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Hashing password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5303520" y="3474720"/>
            <a:ext cx="137160" cy="137160"/>
          </a:xfrm>
          <a:prstGeom prst="ellipse">
            <a:avLst/>
          </a:prstGeom>
          <a:solidFill>
            <a:srgbClr val="F1C4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3"/>
          <p:cNvSpPr/>
          <p:nvPr/>
        </p:nvSpPr>
        <p:spPr>
          <a:xfrm>
            <a:off x="5577840" y="34290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Autenticazione multi-factor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3"/>
          <p:cNvSpPr/>
          <p:nvPr/>
        </p:nvSpPr>
        <p:spPr>
          <a:xfrm>
            <a:off x="5303520" y="4023360"/>
            <a:ext cx="137160" cy="137160"/>
          </a:xfrm>
          <a:prstGeom prst="ellipse">
            <a:avLst/>
          </a:prstGeom>
          <a:solidFill>
            <a:srgbClr val="F1C4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3"/>
          <p:cNvSpPr/>
          <p:nvPr/>
        </p:nvSpPr>
        <p:spPr>
          <a:xfrm>
            <a:off x="5577840" y="39776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Crittografia dati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3"/>
          <p:cNvSpPr/>
          <p:nvPr/>
        </p:nvSpPr>
        <p:spPr>
          <a:xfrm>
            <a:off x="9601200" y="1645920"/>
            <a:ext cx="4389120" cy="5303520"/>
          </a:xfrm>
          <a:prstGeom prst="roundRect">
            <a:avLst>
              <a:gd fmla="val 16667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3"/>
          <p:cNvSpPr/>
          <p:nvPr/>
        </p:nvSpPr>
        <p:spPr>
          <a:xfrm>
            <a:off x="9601200" y="1645920"/>
            <a:ext cx="4389120" cy="5486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3"/>
          <p:cNvSpPr/>
          <p:nvPr/>
        </p:nvSpPr>
        <p:spPr>
          <a:xfrm>
            <a:off x="9601200" y="1691640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Fase 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3"/>
          <p:cNvSpPr/>
          <p:nvPr/>
        </p:nvSpPr>
        <p:spPr>
          <a:xfrm>
            <a:off x="9875520" y="233172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Notifiche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3"/>
          <p:cNvSpPr/>
          <p:nvPr/>
        </p:nvSpPr>
        <p:spPr>
          <a:xfrm>
            <a:off x="9875520" y="2926080"/>
            <a:ext cx="137160" cy="13716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3"/>
          <p:cNvSpPr/>
          <p:nvPr/>
        </p:nvSpPr>
        <p:spPr>
          <a:xfrm>
            <a:off x="10149840" y="28803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Email alerts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3"/>
          <p:cNvSpPr/>
          <p:nvPr/>
        </p:nvSpPr>
        <p:spPr>
          <a:xfrm>
            <a:off x="9875520" y="3474720"/>
            <a:ext cx="137160" cy="13716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3"/>
          <p:cNvSpPr/>
          <p:nvPr/>
        </p:nvSpPr>
        <p:spPr>
          <a:xfrm>
            <a:off x="10149840" y="34290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Push notifications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3"/>
          <p:cNvSpPr/>
          <p:nvPr/>
        </p:nvSpPr>
        <p:spPr>
          <a:xfrm>
            <a:off x="9875520" y="4023360"/>
            <a:ext cx="137160" cy="13716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3"/>
          <p:cNvSpPr/>
          <p:nvPr/>
        </p:nvSpPr>
        <p:spPr>
          <a:xfrm>
            <a:off x="10149840" y="39776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Reminder automatici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